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BITS Pilani  ·  WILP  ·  Outline Viva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515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AIMLCZG628T — Dissertation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800" b="1">
                <a:solidFill>
                  <a:srgbClr val="1E3A8A"/>
                </a:solidFill>
                <a:latin typeface="Calibri"/>
              </a:rPr>
              <a:t>Domain-Aware Multi-Agent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8892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800" b="1">
                <a:solidFill>
                  <a:srgbClr val="1E3A8A"/>
                </a:solidFill>
                <a:latin typeface="Calibri"/>
              </a:rPr>
              <a:t>NL-to-SQL for Supply Chain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794760"/>
            <a:ext cx="1828800" cy="54864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1605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Calibri"/>
              </a:rPr>
              <a:t>Aniruddha Prakash Kawarase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6177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BITS ID  2024AA05175   ·   M.Tech AI &amp; 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607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60120"/>
            <a:ext cx="411480" cy="54864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  <a:latin typeface="Calibri"/>
              </a:rPr>
              <a:t>Objectives &amp; Scope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36576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691640"/>
            <a:ext cx="502920" cy="50292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691640"/>
            <a:ext cx="25603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Calibri"/>
              </a:rPr>
              <a:t>Domain-axis decomposition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17320"/>
            <a:ext cx="36576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72000" y="1691640"/>
            <a:ext cx="502920" cy="50292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69164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57800" y="1691640"/>
            <a:ext cx="25603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Calibri"/>
              </a:rPr>
              <a:t>Cross-DB federation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417320"/>
            <a:ext cx="36576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366760" y="1691640"/>
            <a:ext cx="502920" cy="50292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69164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1691640"/>
            <a:ext cx="25603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Calibri"/>
              </a:rPr>
              <a:t>Deterministic temporal reasoning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651760"/>
            <a:ext cx="36576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7240" y="2926080"/>
            <a:ext cx="502920" cy="50292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92608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2926080"/>
            <a:ext cx="25603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Calibri"/>
              </a:rPr>
              <a:t>Source-agent self-correction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2651760"/>
            <a:ext cx="36576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72000" y="2926080"/>
            <a:ext cx="502920" cy="50292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292608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7800" y="2926080"/>
            <a:ext cx="25603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Calibri"/>
              </a:rPr>
              <a:t>SCM-SQL benchmark (500+ queries)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2651760"/>
            <a:ext cx="36576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366760" y="2926080"/>
            <a:ext cx="502920" cy="50292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60" y="292608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0" y="2926080"/>
            <a:ext cx="25603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Calibri"/>
              </a:rPr>
              <a:t>Evaluation vs MAC-SQL / MARS-SQL / CHASE-SQL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88620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Calibri"/>
              </a:rPr>
              <a:t>Scope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12267" y="4251960"/>
            <a:ext cx="2240280" cy="1371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2267" y="4389120"/>
            <a:ext cx="22402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1E3A8A"/>
                </a:solidFill>
                <a:latin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2267" y="5120640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Calibri"/>
              </a:rPr>
              <a:t>domain agents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643987" y="4251960"/>
            <a:ext cx="2240280" cy="1371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43987" y="4389120"/>
            <a:ext cx="22402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1E3A8A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43987" y="5120640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Calibri"/>
              </a:rPr>
              <a:t>complexity levels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975707" y="4251960"/>
            <a:ext cx="2240280" cy="1371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75707" y="4389120"/>
            <a:ext cx="22402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1E3A8A"/>
                </a:solidFill>
                <a:latin typeface="Calibri"/>
              </a:rP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75707" y="5120640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Calibri"/>
              </a:rPr>
              <a:t>complexity dimensions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07427" y="4251960"/>
            <a:ext cx="2240280" cy="1371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07427" y="4389120"/>
            <a:ext cx="22402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1E3A8A"/>
                </a:solidFill>
                <a:latin typeface="Calibri"/>
              </a:rPr>
              <a:t>498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07427" y="5120640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Calibri"/>
              </a:rPr>
              <a:t>Odoo tables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639147" y="4251960"/>
            <a:ext cx="2240280" cy="1371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39147" y="4389120"/>
            <a:ext cx="22402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E3A8A"/>
                </a:solidFill>
                <a:latin typeface="Calibri"/>
              </a:rPr>
              <a:t>PG · DuckDB · Redis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39147" y="5120640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Calibri"/>
              </a:rPr>
              <a:t>federated stack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49224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Aniruddha Prakash Kawarase   2024AA05175   BITS Pilani M.Tech AI/ML   Outline Viva  ·  26 May 2026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2865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60120"/>
            <a:ext cx="411480" cy="54864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  <a:latin typeface="Calibri"/>
              </a:rPr>
              <a:t>Methodology —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8047" y="1476756"/>
            <a:ext cx="10515600" cy="7772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6647" y="1476756"/>
            <a:ext cx="41148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Calibri"/>
              </a:rPr>
              <a:t>1.  Query Understanding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52847" y="1476756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Router  ·  Temporal Parser  ·  Ambiguity  ·  References</a:t>
            </a:r>
          </a:p>
        </p:txBody>
      </p:sp>
      <p:sp>
        <p:nvSpPr>
          <p:cNvPr id="7" name="Down Arrow 6"/>
          <p:cNvSpPr/>
          <p:nvPr/>
        </p:nvSpPr>
        <p:spPr>
          <a:xfrm>
            <a:off x="5958687" y="2235708"/>
            <a:ext cx="274320" cy="182880"/>
          </a:xfrm>
          <a:prstGeom prst="downArrow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38047" y="2418588"/>
            <a:ext cx="10515600" cy="7772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6647" y="2418588"/>
            <a:ext cx="41148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Calibri"/>
              </a:rPr>
              <a:t>2.  Domain Specialists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2847" y="2418588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Inventory  ·  Logistics  ·  Finance  ·  Demand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958687" y="3177540"/>
            <a:ext cx="274320" cy="182880"/>
          </a:xfrm>
          <a:prstGeom prst="downArrow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38047" y="3360420"/>
            <a:ext cx="10515600" cy="7772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6647" y="3360420"/>
            <a:ext cx="41148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Calibri"/>
              </a:rPr>
              <a:t>3.  Composer  (sqlglot AST)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52847" y="336042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CTE wrapping  +  shared-key INNER JOIN / CROSS JOIN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958687" y="4119372"/>
            <a:ext cx="274320" cy="182880"/>
          </a:xfrm>
          <a:prstGeom prst="downArrow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8047" y="4302252"/>
            <a:ext cx="10515600" cy="7772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647" y="4302252"/>
            <a:ext cx="41148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Calibri"/>
              </a:rPr>
              <a:t>4.  Compliance  (sqlglot AST)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52847" y="4302252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Per-SELECT RBAC injection  +  audit log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5958687" y="5061204"/>
            <a:ext cx="274320" cy="182880"/>
          </a:xfrm>
          <a:prstGeom prst="downArrow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8047" y="5244084"/>
            <a:ext cx="10515600" cy="7772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6647" y="5244084"/>
            <a:ext cx="41148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Calibri"/>
              </a:rPr>
              <a:t>5.  Validator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52847" y="5244084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Syntax  →  Postgres EXPLAIN  →  Business rules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90807" y="1476756"/>
            <a:ext cx="137160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↑
retry to
originating
agent
(max 3)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9224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Aniruddha Prakash Kawarase   2024AA05175   BITS Pilani M.Tech AI/ML   Outline Viva  ·  26 May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2865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60120"/>
            <a:ext cx="411480" cy="54864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  <a:latin typeface="Calibri"/>
              </a:rPr>
              <a:t>Methodology — Novelty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2287" y="1554480"/>
            <a:ext cx="5394960" cy="4206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2287" y="1783080"/>
            <a:ext cx="5394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475569"/>
                </a:solidFill>
                <a:latin typeface="Calibri"/>
              </a:rPr>
              <a:t>Existing multi-agent NL-to-SQL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2287" y="2194560"/>
            <a:ext cx="5394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475569"/>
                </a:solidFill>
                <a:latin typeface="Calibri"/>
              </a:rPr>
              <a:t>Decompose by SQL PIPELINE STAGE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0927" y="3017520"/>
            <a:ext cx="42976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0927" y="3017520"/>
            <a:ext cx="4297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475569"/>
                </a:solidFill>
                <a:latin typeface="Calibri"/>
              </a:rPr>
              <a:t>Schema Link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0927" y="3630168"/>
            <a:ext cx="42976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0927" y="3630168"/>
            <a:ext cx="4297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475569"/>
                </a:solidFill>
                <a:latin typeface="Calibri"/>
              </a:rPr>
              <a:t>Decompose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0927" y="4242816"/>
            <a:ext cx="42976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0927" y="4242816"/>
            <a:ext cx="4297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475569"/>
                </a:solidFill>
                <a:latin typeface="Calibri"/>
              </a:rPr>
              <a:t>Generate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0927" y="4855464"/>
            <a:ext cx="42976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0927" y="4855464"/>
            <a:ext cx="4297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475569"/>
                </a:solidFill>
                <a:latin typeface="Calibri"/>
              </a:rPr>
              <a:t>Refine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24447" y="1554480"/>
            <a:ext cx="5394960" cy="4206240"/>
          </a:xfrm>
          <a:prstGeom prst="roundRect">
            <a:avLst/>
          </a:prstGeom>
          <a:solidFill>
            <a:srgbClr val="DBEAFE"/>
          </a:solidFill>
          <a:ln w="1587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4447" y="1783080"/>
            <a:ext cx="5394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E3A8A"/>
                </a:solidFill>
                <a:latin typeface="Calibri"/>
              </a:rPr>
              <a:t>This dissertation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4447" y="2194560"/>
            <a:ext cx="5394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E3A8A"/>
                </a:solidFill>
                <a:latin typeface="Calibri"/>
              </a:rPr>
              <a:t>Decompose by BUSINESS DOMAIN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73087" y="3017520"/>
            <a:ext cx="42976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73087" y="3017520"/>
            <a:ext cx="4297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E3A8A"/>
                </a:solidFill>
                <a:latin typeface="Calibri"/>
              </a:rPr>
              <a:t>Inventory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73087" y="3630168"/>
            <a:ext cx="42976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73087" y="3630168"/>
            <a:ext cx="4297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E3A8A"/>
                </a:solidFill>
                <a:latin typeface="Calibri"/>
              </a:rPr>
              <a:t>Logistics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73087" y="4242816"/>
            <a:ext cx="42976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73087" y="4242816"/>
            <a:ext cx="4297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E3A8A"/>
                </a:solidFill>
                <a:latin typeface="Calibri"/>
              </a:rPr>
              <a:t>Finance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73087" y="4855464"/>
            <a:ext cx="42976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73087" y="4855464"/>
            <a:ext cx="4297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E3A8A"/>
                </a:solidFill>
                <a:latin typeface="Calibri"/>
              </a:rPr>
              <a:t>Demand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94360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Calibri"/>
              </a:rPr>
              <a:t>Each agent owns its schema slice, glossary, and few-shots. Error blame routes to the originating agent — not a global retry.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9224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Aniruddha Prakash Kawarase   2024AA05175   BITS Pilani M.Tech AI/ML   Outline Viva  ·  26 May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2865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60120"/>
            <a:ext cx="411480" cy="54864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  <a:latin typeface="Calibri"/>
              </a:rPr>
              <a:t>Progress &amp; 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Phase status  ·  7 of 10 complete  ·  ~5 weeks ahead of midterm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2307" y="1783080"/>
            <a:ext cx="1051560" cy="7772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2307" y="1856232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307" y="2148840"/>
            <a:ext cx="1051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Setup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29587" y="1783080"/>
            <a:ext cx="1051560" cy="7772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29587" y="1856232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Phase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29587" y="2148840"/>
            <a:ext cx="1051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Schema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26867" y="1783080"/>
            <a:ext cx="1051560" cy="7772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26867" y="1856232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Phase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26867" y="2148840"/>
            <a:ext cx="1051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Framework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24147" y="1783080"/>
            <a:ext cx="1051560" cy="7772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24147" y="1856232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Phase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24147" y="2148840"/>
            <a:ext cx="1051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Specialists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1427" y="1783080"/>
            <a:ext cx="1051560" cy="7772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1427" y="1856232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Phase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1427" y="2148840"/>
            <a:ext cx="1051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Composer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18707" y="1783080"/>
            <a:ext cx="1051560" cy="7772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18707" y="1856232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Phase 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18707" y="2148840"/>
            <a:ext cx="1051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Temporal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15987" y="1783080"/>
            <a:ext cx="1051560" cy="7772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15987" y="1856232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Phase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5987" y="2148840"/>
            <a:ext cx="1051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Multi-turn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13267" y="1783080"/>
            <a:ext cx="1051560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13267" y="1856232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475569"/>
                </a:solidFill>
                <a:latin typeface="Calibri"/>
              </a:rPr>
              <a:t>Phase 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13267" y="2148840"/>
            <a:ext cx="1051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475569"/>
                </a:solidFill>
                <a:latin typeface="Calibri"/>
              </a:rPr>
              <a:t>Benchmark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0547" y="1783080"/>
            <a:ext cx="1051560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10547" y="1856232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475569"/>
                </a:solidFill>
                <a:latin typeface="Calibri"/>
              </a:rPr>
              <a:t>Phase 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0547" y="2148840"/>
            <a:ext cx="1051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475569"/>
                </a:solidFill>
                <a:latin typeface="Calibri"/>
              </a:rPr>
              <a:t>Frontend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507827" y="1783080"/>
            <a:ext cx="1051560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07827" y="1856232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475569"/>
                </a:solidFill>
                <a:latin typeface="Calibri"/>
              </a:rPr>
              <a:t>Phase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07827" y="2148840"/>
            <a:ext cx="1051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475569"/>
                </a:solidFill>
                <a:latin typeface="Calibri"/>
              </a:rPr>
              <a:t>Eval+Paper</a:t>
            </a:r>
          </a:p>
        </p:txBody>
      </p:sp>
      <p:sp>
        <p:nvSpPr>
          <p:cNvPr id="35" name="Oval 34"/>
          <p:cNvSpPr/>
          <p:nvPr/>
        </p:nvSpPr>
        <p:spPr>
          <a:xfrm>
            <a:off x="632307" y="2734056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98067" y="2697480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complete</a:t>
            </a:r>
          </a:p>
        </p:txBody>
      </p:sp>
      <p:sp>
        <p:nvSpPr>
          <p:cNvPr id="37" name="Oval 36"/>
          <p:cNvSpPr/>
          <p:nvPr/>
        </p:nvSpPr>
        <p:spPr>
          <a:xfrm>
            <a:off x="2461107" y="2734056"/>
            <a:ext cx="274320" cy="274320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826867" y="2697480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pending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40233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Live evidence — measured artefacts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09447" y="4434840"/>
            <a:ext cx="2606040" cy="16916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9447" y="4663440"/>
            <a:ext cx="26060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1E3A8A"/>
                </a:solidFill>
                <a:latin typeface="Calibri"/>
              </a:rPr>
              <a:t>498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9447" y="553212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Calibri"/>
              </a:rPr>
              <a:t>Odoo tables introspected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398367" y="4434840"/>
            <a:ext cx="2606040" cy="16916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98367" y="4663440"/>
            <a:ext cx="26060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1E3A8A"/>
                </a:solidFill>
                <a:latin typeface="Calibri"/>
              </a:rPr>
              <a:t>4 / 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98367" y="553212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Calibri"/>
              </a:rPr>
              <a:t>queries pass live EXPLAIN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87287" y="4434840"/>
            <a:ext cx="2606040" cy="16916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87287" y="4663440"/>
            <a:ext cx="26060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1E3A8A"/>
                </a:solidFill>
                <a:latin typeface="Calibri"/>
              </a:rPr>
              <a:t>210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87287" y="553212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Calibri"/>
              </a:rPr>
              <a:t>unit tests  ·  87% coverage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976207" y="4434840"/>
            <a:ext cx="2606040" cy="16916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976207" y="4663440"/>
            <a:ext cx="26060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1E3A8A"/>
                </a:solidFill>
                <a:latin typeface="Calibri"/>
              </a:rPr>
              <a:t>$0.10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76207" y="553212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Calibri"/>
              </a:rPr>
              <a:t>total LLM dev spend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649224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Aniruddha Prakash Kawarase   2024AA05175   BITS Pilani M.Tech AI/ML   Outline Viva  ·  26 May 2026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72865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60120"/>
            <a:ext cx="411480" cy="54864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  <a:latin typeface="Calibri"/>
              </a:rPr>
              <a:t>Future 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9427" y="1691640"/>
            <a:ext cx="3611880" cy="38404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49427" y="1691640"/>
            <a:ext cx="3611880" cy="685800"/>
          </a:xfrm>
          <a:prstGeom prst="roundRect">
            <a:avLst/>
          </a:prstGeom>
          <a:solidFill>
            <a:srgbClr val="1E3A8A"/>
          </a:solidFill>
          <a:ln w="952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9427" y="1691640"/>
            <a:ext cx="36118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Phase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8027" y="2606040"/>
            <a:ext cx="3154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Calibri"/>
              </a:rPr>
              <a:t>SCM-SQL Benchmark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8027" y="3383280"/>
            <a:ext cx="315468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475569"/>
                </a:solidFill>
                <a:latin typeface="Calibri"/>
              </a:rPr>
              <a:t>500+ NL/SQL pairs  ·  6 complexity levels  ·  Odoo + DataCo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40967" y="4892040"/>
            <a:ext cx="1828800" cy="411480"/>
          </a:xfrm>
          <a:prstGeom prst="roundRect">
            <a:avLst/>
          </a:prstGeom>
          <a:solidFill>
            <a:srgbClr val="DBEAFE"/>
          </a:solidFill>
          <a:ln w="952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0967" y="4892040"/>
            <a:ext cx="18288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E3A8A"/>
                </a:solidFill>
                <a:latin typeface="Calibri"/>
              </a:rPr>
              <a:t>5 Jul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89907" y="1691640"/>
            <a:ext cx="3611880" cy="38404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89907" y="1691640"/>
            <a:ext cx="3611880" cy="685800"/>
          </a:xfrm>
          <a:prstGeom prst="roundRect">
            <a:avLst/>
          </a:prstGeom>
          <a:solidFill>
            <a:srgbClr val="1E3A8A"/>
          </a:solidFill>
          <a:ln w="952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89907" y="1691640"/>
            <a:ext cx="36118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Phase 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8507" y="2606040"/>
            <a:ext cx="3154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Calibri"/>
              </a:rPr>
              <a:t>Next.js Frontend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8507" y="3383280"/>
            <a:ext cx="315468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475569"/>
                </a:solidFill>
                <a:latin typeface="Calibri"/>
              </a:rPr>
              <a:t>Chat UI  ·  SQL viewer  ·  agent timeline  ·  lineage panel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81447" y="4892040"/>
            <a:ext cx="1828800" cy="411480"/>
          </a:xfrm>
          <a:prstGeom prst="roundRect">
            <a:avLst/>
          </a:prstGeom>
          <a:solidFill>
            <a:srgbClr val="DBEAFE"/>
          </a:solidFill>
          <a:ln w="952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81447" y="4892040"/>
            <a:ext cx="18288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E3A8A"/>
                </a:solidFill>
                <a:latin typeface="Calibri"/>
              </a:rPr>
              <a:t>16 Jul 2026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0387" y="1691640"/>
            <a:ext cx="3611880" cy="38404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130387" y="1691640"/>
            <a:ext cx="3611880" cy="685800"/>
          </a:xfrm>
          <a:prstGeom prst="roundRect">
            <a:avLst/>
          </a:prstGeom>
          <a:solidFill>
            <a:srgbClr val="1E3A8A"/>
          </a:solidFill>
          <a:ln w="952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0387" y="1691640"/>
            <a:ext cx="36118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Phase 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8987" y="2606040"/>
            <a:ext cx="3154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Calibri"/>
              </a:rPr>
              <a:t>Eval + Paper + Dissertation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8987" y="3383280"/>
            <a:ext cx="315468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475569"/>
                </a:solidFill>
                <a:latin typeface="Calibri"/>
              </a:rPr>
              <a:t>Run vs 4 baselines  ·  ablations  ·  ACL/EMNLP/COLING draft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21927" y="4892040"/>
            <a:ext cx="1828800" cy="411480"/>
          </a:xfrm>
          <a:prstGeom prst="roundRect">
            <a:avLst/>
          </a:prstGeom>
          <a:solidFill>
            <a:srgbClr val="DBEAFE"/>
          </a:solidFill>
          <a:ln w="952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21927" y="4892040"/>
            <a:ext cx="18288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E3A8A"/>
                </a:solidFill>
                <a:latin typeface="Calibri"/>
              </a:rPr>
              <a:t>1 Aug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9224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Aniruddha Prakash Kawarase   2024AA05175   BITS Pilani M.Tech AI/ML   Outline Viva  ·  26 May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2865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194560"/>
            <a:ext cx="12191695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200" b="1">
                <a:solidFill>
                  <a:srgbClr val="1E3A8A"/>
                </a:solidFill>
                <a:latin typeface="Calibri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566160"/>
            <a:ext cx="121916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0">
                <a:solidFill>
                  <a:srgbClr val="475569"/>
                </a:solidFill>
                <a:latin typeface="Calibri"/>
              </a:rPr>
              <a:t>Questions welcome.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10047" y="4297680"/>
            <a:ext cx="1371600" cy="457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75488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E3A8A"/>
                </a:solidFill>
                <a:latin typeface="Calibri"/>
              </a:rPr>
              <a:t>Key 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7492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Calibri"/>
              </a:rPr>
              <a:t>MAC-SQL (COLING 2025)   ·   MARS-SQL (2025)   ·   CHASE-SQL (ICLR 2025)   ·   Spider 2.0 (ICLR 2025)   ·   AmbiSQL (2025)   ·   NL2SQL Survey (VLDB 2025)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Aniruddha Prakash Kawarase   2024AA05175   BITS Pilani M.Tech AI/ML   Outline Viva  ·  26 May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922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