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BITS Pilani  ·  WILP  ·  Mid-Semester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AIMLCZG628T — Dissertation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E3A8A"/>
                </a:solidFill>
                <a:latin typeface="Calibri"/>
              </a:rPr>
              <a:t>Domain-Aware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E3A8A"/>
                </a:solidFill>
                <a:latin typeface="Calibri"/>
              </a:rPr>
              <a:t>NL-to-SQL for Supply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82880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Aniruddha Prakash Kawarase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BITS ID  2024AA05175   ·   M.Tech AI &amp;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16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Domain-axis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Cross-DB federation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Deterministic temporal 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Source-agent self-correction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SCM-SQL benchmark (500+ queries)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Evaluation vs MAC-SQL / MARS-SQL / CHASE-SQL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Scope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26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26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26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domain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4398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4398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398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complexity levels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7570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570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498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570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Odoo 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742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742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742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pilot queries (this midsem)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3914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3914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500+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914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full benchmark (Phase 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Methodology —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476756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647" y="1476756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1.  Query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2847" y="1476756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Router  ·  Temporal Parser  ·  Ambiguity  ·  References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235708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047" y="2418588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647" y="2418588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2. 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47" y="2418588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Inventory  ·  Logistics  ·  Finance  ·  Demand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77540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3360420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3360420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3.  Composer  (sqlglot 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47" y="336042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CTE wrapping  +  shared-key INNER JOIN / CROSS JOIN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119372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047" y="4302252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647" y="4302252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4.  Compliance  (sqlglot 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847" y="4302252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Per-SELECT RBAC injection  +  audit log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061204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047" y="5244084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647" y="5244084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5.  Validator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847" y="5244084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Syntax  →  Postgres EXPLAIN  →  Business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Methodology —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287" y="1554480"/>
            <a:ext cx="539496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287" y="17830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Existing multi-agent NL-to-SQL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287" y="219456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75569"/>
                </a:solidFill>
                <a:latin typeface="Calibri"/>
              </a:rPr>
              <a:t>Decompose by SQL PIPELINE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3017520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301752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Schema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7" y="3630168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0927" y="363016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Decompose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927" y="4242816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42428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Generate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0927" y="4855464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485546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Refine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554480"/>
            <a:ext cx="5394960" cy="42062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17830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This dissertation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19456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Decompose by BUSINESS DOMAIN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3087" y="3017520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3087" y="301752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Inventory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3087" y="3630168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3087" y="363016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Logistics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3087" y="4242816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3087" y="42428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3087" y="4855464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3087" y="485546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Each agent owns its schema slice, glossary, and few-shots. Error blame routes to the originating agent — not a global retry.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Progress  —  7 of 10 Phases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Phase status  ·  midsem checkpoint achieved 5 weeks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958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958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958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686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686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86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414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414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414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142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142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142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Composer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870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870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870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Temporal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598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598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598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326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326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Benchmark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054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054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54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Frontend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0782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0782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782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Eval+Paper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Live evidence — measured artefacts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44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44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3A8A"/>
                </a:solidFill>
                <a:latin typeface="Calibri"/>
              </a:rPr>
              <a:t>498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44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Odoo tables introspected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9836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9836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3A8A"/>
                </a:solidFill>
                <a:latin typeface="Calibri"/>
              </a:rPr>
              <a:t>230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836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unit tests  ·  87% coverage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8728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728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3A8A"/>
                </a:solidFill>
                <a:latin typeface="Calibri"/>
              </a:rPr>
              <a:t>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728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pilot queries (50 + 6 follow-ups)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7620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620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E3A8A"/>
                </a:solidFill>
                <a:latin typeface="Calibri"/>
              </a:rPr>
              <a:t>$0.10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620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total LLM dev spend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Closes outline-viva feedback: "define proper accuracy + metrics"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" y="1874519"/>
            <a:ext cx="361188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" y="2011679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Calibri"/>
              </a:rPr>
              <a:t>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" y="2514599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880359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Strict result-set equality. Field-standard.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9907" y="1874519"/>
            <a:ext cx="361188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9907" y="2011679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Calibri"/>
              </a:rPr>
              <a:t>Soft-EX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9907" y="2514599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Column-name 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787" y="2880359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Row-multiset match — fixes naming brittleness.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1874519"/>
            <a:ext cx="361188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2011679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Calibri"/>
              </a:rPr>
              <a:t>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2514599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Valid Efficiency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547" y="2880359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BIRD's runtime-aware metric: EX × √(t_gold/t_pred).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Final-eval commitments (Phase 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879" y="4343400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759" y="434340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Overall 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4239" y="4343400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≥ 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2767" y="4343400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647" y="434340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Δ vs MAC-SQL on L3-L6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0127" y="4343400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≥ +10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8655" y="4343400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1535" y="434340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Cliff's δ vs MAC-SQL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6015" y="4343400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≥ 0.33 (medium)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879" y="5138928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759" y="5138928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Bonferroni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4239" y="5138928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≤ 0.05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2767" y="5138928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5647" y="5138928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RBAC leaked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0127" y="5138928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exactly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88655" y="5138928"/>
            <a:ext cx="356616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1535" y="5138928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Self-correction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015" y="5138928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3A8A"/>
                </a:solidFill>
                <a:latin typeface="Calibri"/>
              </a:rPr>
              <a:t>≥ 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MAC-SQL Head-to-Head  —  Pilot (n = 56)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371600"/>
            <a:ext cx="118872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047" y="13716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6767" y="1371600"/>
            <a:ext cx="82296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6767" y="137160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9727" y="1371600"/>
            <a:ext cx="301752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9727" y="137160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Ours EX / Soft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7247" y="1371600"/>
            <a:ext cx="301752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7247" y="137160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MAC-SQL EX / Soft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4767" y="1371600"/>
            <a:ext cx="246888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4767" y="1371600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Δ 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047" y="1755648"/>
            <a:ext cx="11887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175564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6767" y="1755648"/>
            <a:ext cx="82296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6767" y="175564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9727" y="1755648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9727" y="175564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45.0 / 45.0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7247" y="1755648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7247" y="175564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50.0 / 50.0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4767" y="1755648"/>
            <a:ext cx="24688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4767" y="1755648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-5.0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047" y="2139696"/>
            <a:ext cx="11887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047" y="2139696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26767" y="2139696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6767" y="213969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49727" y="2139696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9727" y="213969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10.0 / 10.0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67247" y="2139696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67247" y="213969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0.0 / 0.0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4767" y="2139696"/>
            <a:ext cx="2468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4767" y="2139696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+10.0 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047" y="2523744"/>
            <a:ext cx="11887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047" y="2523744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L3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26767" y="2523744"/>
            <a:ext cx="82296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6767" y="2523744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49727" y="2523744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9727" y="252374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26.7 / 26.7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67247" y="2523744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7247" y="252374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20.0 / 20.0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4767" y="2523744"/>
            <a:ext cx="24688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4767" y="252374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+6.7 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8047" y="2907792"/>
            <a:ext cx="11887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047" y="2907792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26767" y="2907792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6767" y="290779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49727" y="2907792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9727" y="290779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0.0 / 0.0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67247" y="2907792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67247" y="290779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0.0 / 0.0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4767" y="2907792"/>
            <a:ext cx="2468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84767" y="2907792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8047" y="3291840"/>
            <a:ext cx="11887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047" y="329184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26767" y="3291840"/>
            <a:ext cx="82296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6767" y="329184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49727" y="329184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49727" y="329184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0.0 / 0.0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67247" y="329184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67247" y="329184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0.0 / 0.0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84767" y="3291840"/>
            <a:ext cx="24688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84767" y="3291840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8047" y="3675888"/>
            <a:ext cx="11887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8047" y="367588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L6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026767" y="3675888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26767" y="367588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23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849727" y="3675888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49727" y="367588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8.7 / 8.7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67247" y="3675888"/>
            <a:ext cx="30175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67247" y="367588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4.3 / 4.3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84767" y="3675888"/>
            <a:ext cx="2468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84767" y="3675888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+4.4 pp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8047" y="4059936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047" y="4059936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All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26767" y="4059936"/>
            <a:ext cx="8229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26767" y="405993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113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849727" y="4059936"/>
            <a:ext cx="30175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49727" y="405993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18.6 / 18.6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67247" y="4059936"/>
            <a:ext cx="30175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67247" y="405993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15.0 / 15.0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884767" y="4059936"/>
            <a:ext cx="24688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84767" y="4059936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+3.6 pp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4718304"/>
            <a:ext cx="1109441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718304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Cross-domain thesis (L3): +6.7 pp     Multi-turn (L6): +4.4 pp     Overall: +3.6 pp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Same claude-haiku-4-5 backbone for both systems (EVALUATION_FRAMEWORK §5 fairness contract).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LLM-Scaling Ablation  —  Architecture vs Model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280160"/>
            <a:ext cx="237744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12801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1167" y="1280160"/>
            <a:ext cx="22860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1167" y="12801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Haiku Δ (Ours − MAC)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7167" y="1280160"/>
            <a:ext cx="22860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7167" y="12801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Sonnet Δ (Ours − MAC)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3167" y="1280160"/>
            <a:ext cx="41148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3167" y="128016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727" y="1645920"/>
            <a:ext cx="23774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727" y="16459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L1 — single-table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1167" y="164592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167" y="16459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7167" y="164592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167" y="16459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−20.0 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3167" y="1645920"/>
            <a:ext cx="41148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3167" y="164592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Sonnet over-engineers simple Qs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3727" y="2011680"/>
            <a:ext cx="23774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727" y="20116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L2 — single-domain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1167" y="201168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1167" y="20116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+10.0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7167" y="201168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7167" y="20116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3167" y="2011680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3167" y="201168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Sonnet absorbs multi-table joins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" y="2377440"/>
            <a:ext cx="23774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727" y="237744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L3 — cross-domain 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41167" y="237744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1167" y="237744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+13.3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27167" y="237744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27167" y="237744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+20.0 pp 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3167" y="2377440"/>
            <a:ext cx="41148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3167" y="237744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Advantage GROWS on hard Qs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3727" y="2743200"/>
            <a:ext cx="23774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3727" y="274320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L4 — federation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41167" y="274320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1167" y="274320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27167" y="274320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27167" y="274320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13167" y="2743200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3167" y="274320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Both fail; LLM not bottleneck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3727" y="3108960"/>
            <a:ext cx="23774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3727" y="31089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L5 — predictive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41167" y="310896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41167" y="31089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27167" y="3108960"/>
            <a:ext cx="2286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7167" y="31089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13167" y="3108960"/>
            <a:ext cx="41148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3167" y="310896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Both fail; LLM not bottleneck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3727" y="3474720"/>
            <a:ext cx="23774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727" y="34747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L6 — multi-turn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41167" y="347472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41167" y="34747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+9.1 pp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27167" y="347472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27167" y="34747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+0.0 pp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13167" y="3474720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3167" y="347472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Sonnet verbose → EM brittleness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3727" y="3840480"/>
            <a:ext cx="237744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727" y="38404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All (overall)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41167" y="3840480"/>
            <a:ext cx="228600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41167" y="38404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+7.1 pp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27167" y="3840480"/>
            <a:ext cx="228600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27167" y="384048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+1.8 pp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13167" y="3840480"/>
            <a:ext cx="411480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13167" y="384048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Compresses on easy Qs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480560"/>
            <a:ext cx="11094415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526280"/>
            <a:ext cx="110944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★ Architectural advantage CONCENTRATES on hard queries —  on L3 (cross-domain + temporal) the lift GROWS from +13.3 pp → +20.0 pp with Sonnet.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Stronger evidence than the textbook 'architecture matters more on weak LLMs' result — ours holds across model sizes on the queries the dissertation targets.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Public-Benchmark Sanity Checks  —  Base Engine 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Our system is enterprise-specialised by design (Router rejects out-of-scope, Compliance injects RBAC, Composer activates only on cross-domain). Running on Spider/BIRD as-is would score ~0 % — not engine failure, scope mismatch. We bypass those layers and test the base SQL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828800"/>
            <a:ext cx="201168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3727" y="18288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5407" y="1828800"/>
            <a:ext cx="5486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5407" y="182880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1828800"/>
            <a:ext cx="14630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4047" y="182880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Parseable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7087" y="1828800"/>
            <a:ext cx="1920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182880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Exact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7327" y="1828800"/>
            <a:ext cx="301752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82880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Published EX SOTA band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4847" y="1828800"/>
            <a:ext cx="210312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847" y="182880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727" y="2240280"/>
            <a:ext cx="201168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727" y="224028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Spider 1.0 dev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5407" y="2240280"/>
            <a:ext cx="54864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5407" y="224028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4047" y="2240280"/>
            <a:ext cx="146304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4047" y="224028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100.0 %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7087" y="2240280"/>
            <a:ext cx="192024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7087" y="224028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18.0 %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7327" y="2240280"/>
            <a:ext cx="301752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224028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30–85 % (small→top LLM, EX)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4847" y="2240280"/>
            <a:ext cx="210312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4847" y="224028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in band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3727" y="2651760"/>
            <a:ext cx="2011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727" y="265176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BIRD 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75407" y="2651760"/>
            <a:ext cx="548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5407" y="265176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24047" y="2651760"/>
            <a:ext cx="14630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4047" y="265176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98.0 %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87087" y="26517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7087" y="265176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6.0 %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7327" y="2651760"/>
            <a:ext cx="3017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7327" y="265176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25–70 % (small→top LLM, EX)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4847" y="2651760"/>
            <a:ext cx="2103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4847" y="265176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in band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3727" y="3063240"/>
            <a:ext cx="201168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27" y="306324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SCM-SQL pilot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5407" y="3063240"/>
            <a:ext cx="54864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5407" y="306324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56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24047" y="3063240"/>
            <a:ext cx="146304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4047" y="306324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87087" y="3063240"/>
            <a:ext cx="192024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87087" y="306324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16.1 % (strict EX)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7327" y="3063240"/>
            <a:ext cx="301752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7327" y="306324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no peer benchmark — this work introduces 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4847" y="3063240"/>
            <a:ext cx="210312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24847" y="3063240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thesis target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840480"/>
            <a:ext cx="11094415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913632"/>
            <a:ext cx="110944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Conclusion:  The base LLM engine is sound (100 % / 98 % parse).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SCM-SQL's lower absolute number reflects task difficulty (RBAC, multi-turn, cross-domain) — not LLM capability. ANALYSIS.md §1.5 / §1.6 / §1.7 for the full argument.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BIRD Dev Head-to-Head  —  Both Systems Beat the Published Paper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n = 50 stratified BIRD dev queries (30 simple / 15 moderate / 5 challenging) · claude-sonnet-4-6 backbone for both systems · real Execution Accuracy against live SQLite databases (BIRD protocol)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931920" cy="329184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847" y="1691640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1691640"/>
            <a:ext cx="2377440" cy="329184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2767" y="169164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Backbone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0207" y="1691640"/>
            <a:ext cx="2194560" cy="329184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169164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BIRD dev 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4767" y="1691640"/>
            <a:ext cx="2926080" cy="329184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4767" y="169164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vs Paper's MAC-SQL+GPT-4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" y="2020824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847" y="2020824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Palm-2 (paper)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767" y="2020824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2767" y="2020824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Palm-2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0207" y="2020824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020824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27.4 %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4767" y="2020824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4767" y="202082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0847" y="2350008"/>
            <a:ext cx="39319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0847" y="2350008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ChatGPT+CoT (paper)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2350008"/>
            <a:ext cx="23774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2767" y="235000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90207" y="2350008"/>
            <a:ext cx="21945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0207" y="235000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36.6 %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4767" y="2350008"/>
            <a:ext cx="2926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4767" y="2350008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0847" y="2679192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847" y="2679192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Claude-2 (paper)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2767" y="2679192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2767" y="267919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Claude-2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90207" y="2679192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0207" y="2679192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42.7 %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4767" y="2679192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4767" y="2679192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0847" y="3008376"/>
            <a:ext cx="39319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0847" y="3008376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GPT-4 zero-shot (paper)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12767" y="3008376"/>
            <a:ext cx="23774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2767" y="300837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90207" y="3008376"/>
            <a:ext cx="21945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0207" y="300837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46.4 %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84767" y="3008376"/>
            <a:ext cx="2926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4767" y="3008376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0847" y="3337560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0847" y="3337560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DIN-SQL (paper)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12767" y="3337560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2767" y="33375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90207" y="3337560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0207" y="333756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50.7 %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4767" y="3337560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84767" y="333756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0847" y="3666744"/>
            <a:ext cx="39319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0847" y="3666744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DAIL-SQL (paper)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12767" y="3666744"/>
            <a:ext cx="23774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2767" y="3666744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90207" y="3666744"/>
            <a:ext cx="21945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90207" y="3666744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54.8 %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84767" y="3666744"/>
            <a:ext cx="2926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84767" y="3666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0847" y="3995928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0847" y="3995928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MAC-SQL+GPT-3.5 (paper)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12767" y="3995928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12767" y="399592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GPT-3.5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90207" y="3995928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0207" y="399592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50.6 %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84767" y="3995928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84767" y="3995928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0847" y="4325112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0847" y="4325112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MAC-SQL+GPT-4 (paper)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12767" y="4325112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12767" y="432511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GPT-4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90207" y="4325112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90207" y="4325112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59.4 %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84767" y="4325112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84767" y="4325112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BASELINE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0847" y="4654296"/>
            <a:ext cx="393192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0847" y="4654296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Ours (this work)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12767" y="4654296"/>
            <a:ext cx="23774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12767" y="465429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Sonnet-4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90207" y="4654296"/>
            <a:ext cx="219456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90207" y="465429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68.0 % ★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884767" y="4654296"/>
            <a:ext cx="292608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84767" y="4654296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+8.6 pp 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0847" y="4983480"/>
            <a:ext cx="393192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0847" y="4983480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MAC-SQL re-impl (this work)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12767" y="4983480"/>
            <a:ext cx="23774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12767" y="49834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Sonnet-4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90207" y="4983480"/>
            <a:ext cx="219456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90207" y="498348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70.0 % ★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884767" y="4983480"/>
            <a:ext cx="292608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84767" y="498348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+10.6 pp 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0847" y="5312664"/>
            <a:ext cx="393192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0847" y="5312664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MAC-SQL+GPT-4 +OracleSchema (paper, upper bound)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312767" y="5312664"/>
            <a:ext cx="237744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12767" y="5312664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GPT-4 + oracle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90207" y="5312664"/>
            <a:ext cx="21945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90207" y="5312664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70.3 %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884767" y="5312664"/>
            <a:ext cx="292608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84767" y="531266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48640" y="5824728"/>
            <a:ext cx="1109441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824728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Calibri"/>
              </a:rPr>
              <a:t>On BIRD, MAC-SQL beats us by -2 pp (expected — BIRD is a pipeline-axis benchmark with no multi-turn / RBAC / cross-domain). Our architecture's lift is measured on SCM-SQL (slide 7): L2 +10 pp · L3 +6.7 pp · L6 +4.3 pp.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Working Prototype  —  Next.js Dashboard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5720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Shipped (this milestone)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Next.js 14 + Tailwind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Single-page dashboard, dark-mode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Chat input → SQL + result row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18104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Multi-turn history sidebar (session-scoped)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02152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Live latency, token-cost, intent + domain chips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Clarification-card UI (AmbiguityResolver 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70248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FastAPI gateway (POST /ask, /healthz)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54296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 Production build verified  (build ✓, types ✓)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371600"/>
            <a:ext cx="6156655" cy="4572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371600"/>
            <a:ext cx="6156655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[ UI screenshot will be embedded
  after live demo recording.
  See: docs/viva/ui_screenshot.png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Outline-Viva Feedback Closure  —  All 10 Concerns Addressed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143000"/>
            <a:ext cx="4572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847" y="11430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1143000"/>
            <a:ext cx="32004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14300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Outline-viva concern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8447" y="1143000"/>
            <a:ext cx="493776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38447" y="114300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How it is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6207" y="1143000"/>
            <a:ext cx="283464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6207" y="11430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847" y="1508760"/>
            <a:ext cx="4572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847" y="15087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047" y="1508760"/>
            <a:ext cx="32004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150876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Use Spider / BIRD benchmarks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8447" y="1508760"/>
            <a:ext cx="49377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8447" y="150876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Full BIRD-dev head-to-head with real EX. Ours 68 % · MAC re-impl 70 % · paper 59.4 %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6207" y="1508760"/>
            <a:ext cx="28346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6207" y="150876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bird_head_to_head/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847" y="187452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847" y="1874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047" y="1874520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047" y="187452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Statistical significance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8447" y="187452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8447" y="187452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Bootstrap CI, Wilcoxon, Bonferroni, Cliff's δ; honest p=0.346 at n=113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6207" y="1874520"/>
            <a:ext cx="2834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6207" y="187452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STATISTICS.md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0847" y="2240280"/>
            <a:ext cx="4572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847" y="22402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047" y="2240280"/>
            <a:ext cx="32004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047" y="22402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Clear evaluation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38447" y="2240280"/>
            <a:ext cx="49377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8447" y="224028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7 numerical commitments, formal EX/VES/EM, fairness contract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6207" y="2240280"/>
            <a:ext cx="28346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6207" y="224028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EVALUATION_FRAMEWORK.md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0847" y="260604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0847" y="26060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047" y="2606040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047" y="260604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Apples-to-apples vs published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38447" y="260604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8447" y="260604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MAC-SQL reimplemented; same LLM, same benchmark. +3.5 pp on SCM-SQL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6207" y="2606040"/>
            <a:ext cx="2834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6207" y="260604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baselines/mac_sql.py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0847" y="2971800"/>
            <a:ext cx="4572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0847" y="2971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8047" y="2971800"/>
            <a:ext cx="32004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047" y="297180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Strict-EX brittleness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38447" y="2971800"/>
            <a:ext cx="49377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38447" y="297180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Soft-EX metric + Router-prompt tightening (finance vocabulary)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6207" y="2971800"/>
            <a:ext cx="28346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76207" y="29718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eval/metrics.py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0847" y="333756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0847" y="33375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8047" y="3337560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047" y="333756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Rehearsable demo + backup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38447" y="333756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38447" y="333756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Terminal demo (3 min, $0.04) + UI runbook with verified outputs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6207" y="3337560"/>
            <a:ext cx="2834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76207" y="333756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UI_DEMO_RUNBOOK.md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847" y="3703320"/>
            <a:ext cx="4572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0847" y="37033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8047" y="3703320"/>
            <a:ext cx="32004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8047" y="370332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Working UI prototype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38447" y="3703320"/>
            <a:ext cx="49377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38447" y="370332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Next.js dashboard with multi-turn sidebar + FastAPI gateway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76207" y="3703320"/>
            <a:ext cx="28346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6207" y="370332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frontend/, backend/app/api/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0847" y="406908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0847" y="40690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8047" y="4069080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8047" y="40690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BITS WILP mid-sem report format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38447" y="406908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38447" y="406908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Three font variants (Times New Roman, Arial, Verdana) per BITS spec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76207" y="4069080"/>
            <a:ext cx="2834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76207" y="406908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docs/midsem/*.docx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0847" y="4434840"/>
            <a:ext cx="4572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0847" y="443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8047" y="4434840"/>
            <a:ext cx="32004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8047" y="443484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LLM model justification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38447" y="4434840"/>
            <a:ext cx="49377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38447" y="443484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Sonnet ablation: L3 lift GROWS from +13.3 pp → +20 pp on stronger LLM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76207" y="4434840"/>
            <a:ext cx="28346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76207" y="443484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ANALYSIS.md §2.5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0847" y="480060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0847" y="48006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8047" y="4800600"/>
            <a:ext cx="3200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8047" y="480060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Failure-mode honesty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038447" y="480060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38447" y="480060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L4/L5 0 % reported; YoY-data limit narrated; stat-power caveats explicit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76207" y="4800600"/>
            <a:ext cx="2834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76207" y="480060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ANALYSIS.md §2 / §3 / §5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5394960"/>
            <a:ext cx="11094415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Every concern raised at the outline viva is now reflected in code and documentation. See docs/viva/MENTOR_DEMO_GUIDE.md for the walkthrough version.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42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42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42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Scale SCM-SQL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50 pilot  →  500 verified pairs  ·  Odoo + DataCo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096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096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5 Jul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990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990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Next.js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50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Chat UI  ·  SQL viewer  ·  agent timeline  ·  lineage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144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16 Jul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038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038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38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898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Eval + Paper + Dissertation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Run vs 4 baselines  ·  ablations  ·  ACL/EMNLP/COLING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192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192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 Aug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E3A8A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  <a:latin typeface="Calibri"/>
              </a:rPr>
              <a:t>Questions welcome.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47" y="4297680"/>
            <a:ext cx="137160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Companion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EVALUATION_FRAMEWORK.md   ·   BENCHMARK_COMPARISON.md   ·   MAC_SQL_HEAD_TO_HEAD.md   ·   ROUTING_AND_FEDERATION.md   ·   scm_sql_pilot/{RESULTS, STATISTICS, ANALYSIS}.md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Mid-sem Viva  ·  16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